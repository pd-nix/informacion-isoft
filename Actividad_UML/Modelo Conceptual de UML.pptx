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4" r:id="rId5"/>
    <p:sldId id="265" r:id="rId6"/>
    <p:sldId id="263" r:id="rId7"/>
    <p:sldId id="266" r:id="rId8"/>
    <p:sldId id="261" r:id="rId9"/>
    <p:sldId id="268" r:id="rId10"/>
    <p:sldId id="267" r:id="rId1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2D1A5F-519D-47AF-ABDC-E3DE6FAD10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06EE14-7B79-B404-D189-01D7EF16F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EC40A2-1A32-283B-FCB3-34B1FD539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9C35D-769D-4BF2-B881-73084C2C4094}" type="datetimeFigureOut">
              <a:rPr lang="es-MX" smtClean="0"/>
              <a:t>04/09/2026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2AAA6C-E4DB-399E-5B47-9C1F8E115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EDC184-36BF-70F3-800A-493BFC6C4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F92F-9584-4EC3-85C0-F1DB586A16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85282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E8735-B946-C0F4-F14D-3C00160D9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FEF8EF-C151-2BB0-4F73-498A09F93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C60050-C7DF-5FB1-BDAC-75580C3DE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9C35D-769D-4BF2-B881-73084C2C4094}" type="datetimeFigureOut">
              <a:rPr lang="es-MX" smtClean="0"/>
              <a:t>04/09/2026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7DC83E-5DCD-47BA-9D26-03B506958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2C1BD9-AB5B-B69C-3D12-AF9D523B3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F92F-9584-4EC3-85C0-F1DB586A16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08024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30EAE-6930-CA4A-C85D-565EF8E2B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313E52-816B-A71B-1DB1-26EF91AC6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6F68DC-9A46-827A-A241-2A8796E7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9C35D-769D-4BF2-B881-73084C2C4094}" type="datetimeFigureOut">
              <a:rPr lang="es-MX" smtClean="0"/>
              <a:t>04/09/2026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38CC81-ECC6-3392-BA0C-66A2FF0F6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DF41EF-60D0-B288-4587-3649E299C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F92F-9584-4EC3-85C0-F1DB586A16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0528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0C71AA-DDC1-D84A-18C6-ABAD70F6A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F16C2F-BF88-E6D4-C437-E073E11FF1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9DEACC-70C6-1FE0-BE47-C51793472C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2A1CB8D-BCE6-8C4C-EF96-A7EE8DA80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9C35D-769D-4BF2-B881-73084C2C4094}" type="datetimeFigureOut">
              <a:rPr lang="es-MX" smtClean="0"/>
              <a:t>04/09/2026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43B0A8-34B9-BC77-FAA6-9D915A5AA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E7A8EB-D620-E955-0E68-E9C0C887C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F92F-9584-4EC3-85C0-F1DB586A16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80329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D1ED26-AFE8-4144-8C5E-D0072D08E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077EDFF-B13E-587E-047E-8798F3E8A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0CF7758-33C6-F79A-4DEB-2DC4A9EE5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62FD046-CC8B-7649-0E5F-726CB56FDB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DC3B49B-D58B-5CAA-F5E7-B53E63BA6D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A8A3DB1-ABD0-AE8A-E2AE-CB2140BF2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9C35D-769D-4BF2-B881-73084C2C4094}" type="datetimeFigureOut">
              <a:rPr lang="es-MX" smtClean="0"/>
              <a:t>04/09/2026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0803E91-7385-190A-28FC-60F5A2C58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167E01E-3EB1-6506-365C-5DFB8D692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F92F-9584-4EC3-85C0-F1DB586A16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0645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A03AF-200E-BD5F-8796-F43A39335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267E775-097F-0D94-1CC9-A1CE77A6D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9C35D-769D-4BF2-B881-73084C2C4094}" type="datetimeFigureOut">
              <a:rPr lang="es-MX" smtClean="0"/>
              <a:t>04/09/2026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B9C8B51-4FFF-E5D4-48BB-2BD011653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BF81C07-9BA0-89EB-2919-7AC95E20A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F92F-9584-4EC3-85C0-F1DB586A16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0778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D5D11AB-CBA8-9D01-ECEB-E3294403B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9C35D-769D-4BF2-B881-73084C2C4094}" type="datetimeFigureOut">
              <a:rPr lang="es-MX" smtClean="0"/>
              <a:t>04/09/2026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9B8163D-8532-FA83-DA67-7867D2232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6AF060B-69D7-0B39-B4AC-FA179DEFD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F92F-9584-4EC3-85C0-F1DB586A16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34055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7B2145-BE9C-458E-0861-87364E1C2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525964-BF2A-12FB-7D22-CEDC2791A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BE761D0-8593-0ED9-DDCF-A52003A9B5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8B6BC1-F32E-70E6-48F4-F191896A7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9C35D-769D-4BF2-B881-73084C2C4094}" type="datetimeFigureOut">
              <a:rPr lang="es-MX" smtClean="0"/>
              <a:t>04/09/2026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5CCBF6F-B782-99BD-E845-A7D8A4FB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BE624D-FE85-9152-A9FA-7392CCD7F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F92F-9584-4EC3-85C0-F1DB586A16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9232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5A9D-3AC0-66AE-F089-6A35BA652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2406882-2A7F-5D85-7216-9026F4E556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C70E0B6-0AAA-ED02-F6DB-7F2811FB13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03D834-589C-8615-6D40-FE55AA402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9C35D-769D-4BF2-B881-73084C2C4094}" type="datetimeFigureOut">
              <a:rPr lang="es-MX" smtClean="0"/>
              <a:t>04/09/2026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91C7F95-9ADE-D027-0A46-AAFFFE013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2561590-5035-C3E7-EFF9-DACD4AE26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F92F-9584-4EC3-85C0-F1DB586A16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16221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E4F7B-9CBC-C475-B61D-97331EF11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582783E-4EBA-E8E1-1361-4DA7D6D6A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7E8C54-D1C7-FF1A-59D3-DC0BEF1AD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9C35D-769D-4BF2-B881-73084C2C4094}" type="datetimeFigureOut">
              <a:rPr lang="es-MX" smtClean="0"/>
              <a:t>04/09/2026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68A776-2125-FDA4-4EC1-3EF6AC54B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6ED781-397B-26C4-C220-0F58D35A9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F92F-9584-4EC3-85C0-F1DB586A16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73376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8F5B2C9-B1F5-3E14-1D75-F56F1265D5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7E9740E-FEBC-AC24-DE3B-04A782114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484907-D915-C386-F1D7-D9E8F573D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9C35D-769D-4BF2-B881-73084C2C4094}" type="datetimeFigureOut">
              <a:rPr lang="es-MX" smtClean="0"/>
              <a:t>04/09/2026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3E07DD-5314-5CC3-D8E8-323184821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97AE8F-48CF-178E-33DD-747FCE387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F92F-9584-4EC3-85C0-F1DB586A16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6645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10720FB-D111-FBD3-6042-748AFFC32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8E1CCCC-DF73-D389-8FBB-470B55CDF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A9A1FE-8EC2-FAB2-B244-272CB4310C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F9C35D-769D-4BF2-B881-73084C2C4094}" type="datetimeFigureOut">
              <a:rPr lang="es-MX" smtClean="0"/>
              <a:t>04/09/2026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7359B8-9C33-6FDB-233B-7D85FFBBDB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0E6232-6192-E41C-4B7B-DEF563C9F3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4DF92F-9584-4EC3-85C0-F1DB586A16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8019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001905-3BC5-1687-9873-42D69CA45E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Modelo Conceptual de UML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52E575-09C3-1F92-909D-EE54A392BD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/>
              <a:t>Pedro Diaz</a:t>
            </a:r>
            <a:br>
              <a:rPr lang="es-MX" dirty="0"/>
            </a:br>
            <a:r>
              <a:rPr lang="es-MX" dirty="0"/>
              <a:t>0222410068</a:t>
            </a:r>
          </a:p>
          <a:p>
            <a:r>
              <a:rPr lang="es-MX" dirty="0"/>
              <a:t>ISOF</a:t>
            </a:r>
          </a:p>
          <a:p>
            <a:r>
              <a:rPr lang="es-MX" dirty="0"/>
              <a:t>Martin Monroy</a:t>
            </a:r>
          </a:p>
        </p:txBody>
      </p:sp>
    </p:spTree>
    <p:extLst>
      <p:ext uri="{BB962C8B-B14F-4D97-AF65-F5344CB8AC3E}">
        <p14:creationId xmlns:p14="http://schemas.microsoft.com/office/powerpoint/2010/main" val="3824374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D006B-1FEE-CE62-35CD-63E605FEE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Que es UML?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AA4EC39-D99B-0517-8D70-FFE7107F3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647" y="1690688"/>
            <a:ext cx="11498706" cy="441459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MX" sz="3600" dirty="0"/>
              <a:t>UML(</a:t>
            </a:r>
            <a:r>
              <a:rPr lang="es-MX" sz="3600" dirty="0" err="1"/>
              <a:t>Unified</a:t>
            </a:r>
            <a:r>
              <a:rPr lang="es-MX" sz="3600" dirty="0"/>
              <a:t> </a:t>
            </a:r>
            <a:r>
              <a:rPr lang="es-MX" sz="3600" dirty="0" err="1"/>
              <a:t>Modeling</a:t>
            </a:r>
            <a:r>
              <a:rPr lang="es-MX" sz="3600" dirty="0"/>
              <a:t> </a:t>
            </a:r>
            <a:r>
              <a:rPr lang="es-MX" sz="3600" dirty="0" err="1"/>
              <a:t>Language</a:t>
            </a:r>
            <a:r>
              <a:rPr lang="es-MX" sz="3600" dirty="0"/>
              <a:t>) es un lenguaje grafico de visualización, especificación, construcción y documentación de artefactos de sistemas de software, UML proporciona una  forma estandarizada de escribir los planos de un sistema, abarcando procesos conceptuales, así como los procesos  de negocio y las funciones del sistema, así como los aspectos concretos, como las clases escritas  en un lenguaje de programación en especifico, los esquemas de base de datos, y los complementos de software reutilizable.[1]</a:t>
            </a:r>
          </a:p>
          <a:p>
            <a:pPr marL="0" indent="0">
              <a:buNone/>
            </a:pPr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1788704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505E60-ABA0-0477-6294-7274B8DB3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Como se construye un UML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86AB58-F474-5E48-862E-DE856E511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El vocabulario de UML se compone de 3 tipos de bloques de construcción:</a:t>
            </a:r>
            <a:br>
              <a:rPr lang="es-MX" dirty="0"/>
            </a:br>
            <a:r>
              <a:rPr lang="es-MX" dirty="0"/>
              <a:t>Things(Cosas/Elementos)</a:t>
            </a:r>
            <a:br>
              <a:rPr lang="es-MX" dirty="0"/>
            </a:br>
            <a:r>
              <a:rPr lang="es-MX" dirty="0" err="1"/>
              <a:t>Relationships</a:t>
            </a:r>
            <a:r>
              <a:rPr lang="es-MX" dirty="0"/>
              <a:t>(</a:t>
            </a:r>
            <a:r>
              <a:rPr lang="es-MX" dirty="0" err="1"/>
              <a:t>Relacion</a:t>
            </a:r>
            <a:r>
              <a:rPr lang="es-MX" dirty="0"/>
              <a:t>) </a:t>
            </a:r>
            <a:br>
              <a:rPr lang="es-MX" dirty="0"/>
            </a:br>
            <a:r>
              <a:rPr lang="es-MX" dirty="0" err="1"/>
              <a:t>Diagrams</a:t>
            </a:r>
            <a:r>
              <a:rPr lang="es-MX" dirty="0"/>
              <a:t>(Diagrama)</a:t>
            </a:r>
          </a:p>
          <a:p>
            <a:r>
              <a:rPr lang="es-MX" dirty="0"/>
              <a:t>Los elementos(Thing) son componentes que intervienen en el programa, incluso si son algo abstracto, son esas entidades /conceptos que  queremos representar en nuestra abstracción del modelo de negocio	</a:t>
            </a:r>
          </a:p>
        </p:txBody>
      </p:sp>
    </p:spTree>
    <p:extLst>
      <p:ext uri="{BB962C8B-B14F-4D97-AF65-F5344CB8AC3E}">
        <p14:creationId xmlns:p14="http://schemas.microsoft.com/office/powerpoint/2010/main" val="807990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8AEFBB-6E1C-B73E-1ADB-749F855E0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387" y="446529"/>
            <a:ext cx="10515600" cy="4351338"/>
          </a:xfrm>
        </p:spPr>
        <p:txBody>
          <a:bodyPr/>
          <a:lstStyle/>
          <a:p>
            <a:r>
              <a:rPr lang="es-MX" dirty="0"/>
              <a:t>Los elementos a su vez se dividen en:</a:t>
            </a:r>
            <a:br>
              <a:rPr lang="es-MX" dirty="0"/>
            </a:br>
            <a:r>
              <a:rPr lang="es-MX" dirty="0"/>
              <a:t>Elementos Estructurales:</a:t>
            </a:r>
            <a:r>
              <a:rPr lang="es-MX" noProof="0" dirty="0"/>
              <a:t>los elementos estructurales son los sustantivos de UML, Son la parte </a:t>
            </a:r>
            <a:r>
              <a:rPr lang="es-CO" noProof="0" dirty="0"/>
              <a:t>mas estática de un Proyecto representando conceptos físicos o conceptuales, En general hay 7 tipos de </a:t>
            </a:r>
            <a:r>
              <a:rPr lang="es-CO" dirty="0"/>
              <a:t>elementos</a:t>
            </a:r>
            <a:r>
              <a:rPr lang="es-CO" noProof="0" dirty="0"/>
              <a:t> estructurales</a:t>
            </a:r>
            <a:endParaRPr lang="es-MX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03C67B2-77D9-BDB2-DFD0-B49CE54C26EB}"/>
              </a:ext>
            </a:extLst>
          </p:cNvPr>
          <p:cNvSpPr txBox="1"/>
          <p:nvPr/>
        </p:nvSpPr>
        <p:spPr>
          <a:xfrm>
            <a:off x="723275" y="2622198"/>
            <a:ext cx="952999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MX" sz="3200" b="1" dirty="0"/>
              <a:t>Clase (Class)</a:t>
            </a:r>
            <a:r>
              <a:rPr lang="es-MX" sz="32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MX" sz="3200" b="1" dirty="0"/>
              <a:t>Interfaz (Interface)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MX" sz="3200" b="1" dirty="0"/>
              <a:t>Colaboración (</a:t>
            </a:r>
            <a:r>
              <a:rPr lang="es-MX" sz="3200" b="1" dirty="0" err="1"/>
              <a:t>Collaboration</a:t>
            </a:r>
            <a:r>
              <a:rPr lang="es-MX" sz="3200" b="1" dirty="0"/>
              <a:t>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MX" sz="3200" b="1" dirty="0"/>
              <a:t>Caso de Uso (Use Case)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MX" sz="3200" b="1" dirty="0"/>
              <a:t>Clase Activa (Active Class)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MX" sz="3200" b="1" dirty="0"/>
              <a:t>Componente (</a:t>
            </a:r>
            <a:r>
              <a:rPr lang="es-MX" sz="3200" b="1" dirty="0" err="1"/>
              <a:t>Component</a:t>
            </a:r>
            <a:r>
              <a:rPr lang="es-MX" sz="3200" b="1" dirty="0"/>
              <a:t>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MX" sz="3200" b="1" dirty="0"/>
              <a:t>Nodo (</a:t>
            </a:r>
            <a:r>
              <a:rPr lang="es-MX" sz="3200" b="1" dirty="0" err="1"/>
              <a:t>Node</a:t>
            </a:r>
            <a:r>
              <a:rPr lang="es-MX" sz="3200" b="1" dirty="0"/>
              <a:t>)</a:t>
            </a:r>
            <a:endParaRPr lang="es-MX" sz="3200" dirty="0"/>
          </a:p>
        </p:txBody>
      </p:sp>
    </p:spTree>
    <p:extLst>
      <p:ext uri="{BB962C8B-B14F-4D97-AF65-F5344CB8AC3E}">
        <p14:creationId xmlns:p14="http://schemas.microsoft.com/office/powerpoint/2010/main" val="1801276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9626D6-CC80-32EB-CEFC-F05FAA99D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9764"/>
            <a:ext cx="10515600" cy="5817199"/>
          </a:xfrm>
        </p:spPr>
        <p:txBody>
          <a:bodyPr/>
          <a:lstStyle/>
          <a:p>
            <a:r>
              <a:rPr lang="es-MX" dirty="0"/>
              <a:t>Elementos de Comportamiento</a:t>
            </a:r>
          </a:p>
          <a:p>
            <a:pPr marL="0" indent="0">
              <a:buNone/>
            </a:pPr>
            <a:r>
              <a:rPr lang="es-MX" dirty="0"/>
              <a:t>Son los </a:t>
            </a:r>
            <a:r>
              <a:rPr lang="es-MX" b="1" dirty="0"/>
              <a:t>verbos</a:t>
            </a:r>
            <a:r>
              <a:rPr lang="es-MX" dirty="0"/>
              <a:t> de los modelos UML . Representan las partes dinámicas del modelo, es decir, el comportamiento a lo largo del tiempo y el espacio . Hay dos tipos principales:</a:t>
            </a:r>
            <a:br>
              <a:rPr lang="es-MX" dirty="0"/>
            </a:br>
            <a:r>
              <a:rPr lang="es-MX" dirty="0"/>
              <a:t>Interacción y Maquina de estado.</a:t>
            </a:r>
          </a:p>
          <a:p>
            <a:r>
              <a:rPr lang="es-MX" b="1" dirty="0"/>
              <a:t>Elementos de Agrupación</a:t>
            </a:r>
            <a:r>
              <a:rPr lang="es-MX" dirty="0"/>
              <a:t> </a:t>
            </a:r>
          </a:p>
          <a:p>
            <a:pPr marL="0" indent="0">
              <a:buNone/>
            </a:pPr>
            <a:r>
              <a:rPr lang="es-MX" dirty="0"/>
              <a:t>Son las partes organizativas de los modelos UML . Son las "cajas" o carpetas conceptuales en las que podemos descomponer un modelo complejo, hay un tipo, los paquetes, </a:t>
            </a:r>
          </a:p>
          <a:p>
            <a:r>
              <a:rPr lang="es-MX" b="1" dirty="0"/>
              <a:t>Elementos de anotación </a:t>
            </a:r>
          </a:p>
          <a:p>
            <a:pPr marL="0" indent="0">
              <a:buNone/>
            </a:pPr>
            <a:r>
              <a:rPr lang="es-MX" dirty="0"/>
              <a:t>Son las partes explicativas de los modelos UML . Actúan como comentarios para describir, aclarar o remarcar detalles sobre cualquier elemento del modelo, Su ejemplo son las notas.</a:t>
            </a:r>
            <a:endParaRPr lang="es-MX" b="1" dirty="0"/>
          </a:p>
          <a:p>
            <a:pPr marL="0" indent="0">
              <a:buNone/>
            </a:pP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1549837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BC7746-E3ED-41A3-AD66-B57D495EC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Relaciones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4E445D-D974-3C45-F346-638726809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901"/>
            <a:ext cx="10515600" cy="4351338"/>
          </a:xfrm>
        </p:spPr>
        <p:txBody>
          <a:bodyPr/>
          <a:lstStyle/>
          <a:p>
            <a:r>
              <a:rPr lang="es-MX" dirty="0"/>
              <a:t>Las </a:t>
            </a:r>
            <a:r>
              <a:rPr lang="es-MX" b="1" dirty="0"/>
              <a:t>relaciones</a:t>
            </a:r>
            <a:r>
              <a:rPr lang="es-MX" dirty="0"/>
              <a:t> expresan cómo están conectados o vinculados los elementos.</a:t>
            </a:r>
          </a:p>
        </p:txBody>
      </p:sp>
      <p:pic>
        <p:nvPicPr>
          <p:cNvPr id="4" name="Imagen 3" descr="UML class diagram relationships">
            <a:extLst>
              <a:ext uri="{FF2B5EF4-FFF2-40B4-BE49-F238E27FC236}">
                <a16:creationId xmlns:a16="http://schemas.microsoft.com/office/drawing/2014/main" id="{BC52D6EF-F572-9BB1-C482-49055579E8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08" b="32527"/>
          <a:stretch>
            <a:fillRect/>
          </a:stretch>
        </p:blipFill>
        <p:spPr>
          <a:xfrm>
            <a:off x="4270948" y="2083633"/>
            <a:ext cx="6237157" cy="263826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920E29A-1029-E70D-8515-25B6F6CADFB0}"/>
              </a:ext>
            </a:extLst>
          </p:cNvPr>
          <p:cNvSpPr txBox="1"/>
          <p:nvPr/>
        </p:nvSpPr>
        <p:spPr>
          <a:xfrm>
            <a:off x="1374098" y="5569545"/>
            <a:ext cx="94438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Fuente: Blog de Visual </a:t>
            </a:r>
            <a:r>
              <a:rPr lang="es-MX" dirty="0" err="1"/>
              <a:t>Paradigm</a:t>
            </a:r>
            <a:r>
              <a:rPr lang="es-MX" dirty="0"/>
              <a:t> (</a:t>
            </a:r>
            <a:r>
              <a:rPr lang="es-MX" i="1" dirty="0"/>
              <a:t>"</a:t>
            </a:r>
            <a:r>
              <a:rPr lang="es-MX" i="1" dirty="0" err="1"/>
              <a:t>What</a:t>
            </a:r>
            <a:r>
              <a:rPr lang="es-MX" i="1" dirty="0"/>
              <a:t> are </a:t>
            </a:r>
            <a:r>
              <a:rPr lang="es-MX" i="1" dirty="0" err="1"/>
              <a:t>the</a:t>
            </a:r>
            <a:r>
              <a:rPr lang="es-MX" i="1" dirty="0"/>
              <a:t> Six </a:t>
            </a:r>
            <a:r>
              <a:rPr lang="es-MX" i="1" dirty="0" err="1"/>
              <a:t>Types</a:t>
            </a:r>
            <a:r>
              <a:rPr lang="es-MX" i="1" dirty="0"/>
              <a:t> </a:t>
            </a:r>
            <a:r>
              <a:rPr lang="es-MX" i="1" dirty="0" err="1"/>
              <a:t>of</a:t>
            </a:r>
            <a:r>
              <a:rPr lang="es-MX" i="1" dirty="0"/>
              <a:t> </a:t>
            </a:r>
            <a:r>
              <a:rPr lang="es-MX" i="1" dirty="0" err="1"/>
              <a:t>Relationships</a:t>
            </a:r>
            <a:r>
              <a:rPr lang="es-MX" i="1" dirty="0"/>
              <a:t> in UML Class </a:t>
            </a:r>
            <a:r>
              <a:rPr lang="es-MX" i="1" dirty="0" err="1"/>
              <a:t>Diagrams</a:t>
            </a:r>
            <a:r>
              <a:rPr lang="es-MX" i="1" dirty="0"/>
              <a:t>?"</a:t>
            </a:r>
            <a:r>
              <a:rPr lang="es-MX" dirty="0"/>
              <a:t>) https://blog.visual-paradigm.com/es/what-are-the-six-types-of-relationships-in-uml-class-diagrams/</a:t>
            </a:r>
          </a:p>
        </p:txBody>
      </p:sp>
    </p:spTree>
    <p:extLst>
      <p:ext uri="{BB962C8B-B14F-4D97-AF65-F5344CB8AC3E}">
        <p14:creationId xmlns:p14="http://schemas.microsoft.com/office/powerpoint/2010/main" val="1790413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9CC39F-BF84-C635-A880-0F080B221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Diagramas de UML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9DAA17-747C-66C1-4E4A-0BC7CF35D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dirty="0"/>
              <a:t>1.Class </a:t>
            </a:r>
            <a:r>
              <a:rPr lang="es-MX" dirty="0" err="1"/>
              <a:t>diagram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2. </a:t>
            </a:r>
            <a:r>
              <a:rPr lang="es-MX" dirty="0" err="1"/>
              <a:t>Object</a:t>
            </a:r>
            <a:r>
              <a:rPr lang="es-MX" dirty="0"/>
              <a:t> </a:t>
            </a:r>
            <a:r>
              <a:rPr lang="es-MX" dirty="0" err="1"/>
              <a:t>diagram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3. Use case </a:t>
            </a:r>
            <a:r>
              <a:rPr lang="es-MX" dirty="0" err="1"/>
              <a:t>diagram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4. </a:t>
            </a:r>
            <a:r>
              <a:rPr lang="es-MX" dirty="0" err="1"/>
              <a:t>Sequence</a:t>
            </a:r>
            <a:r>
              <a:rPr lang="es-MX" dirty="0"/>
              <a:t> </a:t>
            </a:r>
            <a:r>
              <a:rPr lang="es-MX" dirty="0" err="1"/>
              <a:t>diagram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5. </a:t>
            </a:r>
            <a:r>
              <a:rPr lang="es-MX" dirty="0" err="1"/>
              <a:t>Collaboration</a:t>
            </a:r>
            <a:r>
              <a:rPr lang="es-MX" dirty="0"/>
              <a:t> </a:t>
            </a:r>
            <a:r>
              <a:rPr lang="es-MX" dirty="0" err="1"/>
              <a:t>diagram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6. </a:t>
            </a:r>
            <a:r>
              <a:rPr lang="es-MX" dirty="0" err="1"/>
              <a:t>Statechart</a:t>
            </a:r>
            <a:r>
              <a:rPr lang="es-MX" dirty="0"/>
              <a:t> </a:t>
            </a:r>
            <a:r>
              <a:rPr lang="es-MX" dirty="0" err="1"/>
              <a:t>diagram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7. </a:t>
            </a:r>
            <a:r>
              <a:rPr lang="es-MX" dirty="0" err="1"/>
              <a:t>Activity</a:t>
            </a:r>
            <a:r>
              <a:rPr lang="es-MX" dirty="0"/>
              <a:t> </a:t>
            </a:r>
            <a:r>
              <a:rPr lang="es-MX" dirty="0" err="1"/>
              <a:t>diagram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8. </a:t>
            </a:r>
            <a:r>
              <a:rPr lang="es-MX" dirty="0" err="1"/>
              <a:t>Component</a:t>
            </a:r>
            <a:r>
              <a:rPr lang="es-MX" dirty="0"/>
              <a:t> </a:t>
            </a:r>
            <a:r>
              <a:rPr lang="es-MX" dirty="0" err="1"/>
              <a:t>diagram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9. </a:t>
            </a:r>
            <a:r>
              <a:rPr lang="es-MX" dirty="0" err="1"/>
              <a:t>Deployment</a:t>
            </a:r>
            <a:r>
              <a:rPr lang="es-MX" dirty="0"/>
              <a:t> </a:t>
            </a:r>
            <a:r>
              <a:rPr lang="es-MX" dirty="0" err="1"/>
              <a:t>diagram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25200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46CD9-A87B-CC9B-E9A6-6B902C625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Reglas de UML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F7D385-FD55-EE3F-6970-830CC15F7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s-MX" b="1" dirty="0"/>
              <a:t>Nombres (Names)</a:t>
            </a:r>
            <a:endParaRPr lang="es-MX" dirty="0"/>
          </a:p>
          <a:p>
            <a:pPr lvl="0"/>
            <a:r>
              <a:rPr lang="es-MX" b="1" dirty="0"/>
              <a:t>Alcance (Scope)</a:t>
            </a:r>
          </a:p>
          <a:p>
            <a:pPr lvl="0"/>
            <a:r>
              <a:rPr lang="es-MX" dirty="0"/>
              <a:t> </a:t>
            </a:r>
            <a:r>
              <a:rPr lang="es-MX" b="1" dirty="0"/>
              <a:t>Visibilidad (</a:t>
            </a:r>
            <a:r>
              <a:rPr lang="es-MX" b="1" dirty="0" err="1"/>
              <a:t>Visibility</a:t>
            </a:r>
            <a:r>
              <a:rPr lang="es-MX" b="1" dirty="0"/>
              <a:t>)</a:t>
            </a:r>
            <a:r>
              <a:rPr lang="es-MX" dirty="0"/>
              <a:t> </a:t>
            </a:r>
          </a:p>
          <a:p>
            <a:pPr lvl="0"/>
            <a:r>
              <a:rPr lang="es-MX" b="1" dirty="0"/>
              <a:t>Integridad (Integrity)</a:t>
            </a:r>
            <a:endParaRPr lang="es-MX" dirty="0"/>
          </a:p>
          <a:p>
            <a:pPr lvl="0"/>
            <a:r>
              <a:rPr lang="es-MX" b="1" dirty="0"/>
              <a:t>Ejecución (</a:t>
            </a:r>
            <a:r>
              <a:rPr lang="es-MX" b="1" dirty="0" err="1"/>
              <a:t>Execution</a:t>
            </a:r>
            <a:r>
              <a:rPr lang="es-MX" b="1" dirty="0"/>
              <a:t>)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68512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84F3B8-C218-34F3-478A-2751EA46C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Mecanismos comunes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360FB6-6C8E-F735-D9F5-01D466B1D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Mecanismos para dar significado, precisión y organización a sus elementos.</a:t>
            </a:r>
            <a:br>
              <a:rPr lang="es-MX" dirty="0"/>
            </a:br>
            <a:r>
              <a:rPr lang="es-MX" dirty="0"/>
              <a:t>*Especificaciones</a:t>
            </a:r>
          </a:p>
          <a:p>
            <a:r>
              <a:rPr lang="es-MX" dirty="0"/>
              <a:t>Adornos</a:t>
            </a:r>
          </a:p>
          <a:p>
            <a:r>
              <a:rPr lang="es-MX" dirty="0"/>
              <a:t>Divisiones comunes</a:t>
            </a:r>
          </a:p>
          <a:p>
            <a:r>
              <a:rPr lang="es-MX" dirty="0"/>
              <a:t>Métodos de extensibilidad</a:t>
            </a:r>
            <a:br>
              <a:rPr lang="es-MX" dirty="0"/>
            </a:br>
            <a:r>
              <a:rPr lang="es-MX" dirty="0"/>
              <a:t>	* Valores etiquetados.</a:t>
            </a:r>
            <a:br>
              <a:rPr lang="es-MX" dirty="0"/>
            </a:br>
            <a:r>
              <a:rPr lang="es-MX" dirty="0"/>
              <a:t>	* Estereotipos</a:t>
            </a:r>
            <a:br>
              <a:rPr lang="es-MX" dirty="0"/>
            </a:br>
            <a:r>
              <a:rPr lang="es-MX" dirty="0"/>
              <a:t>	* Restricciones</a:t>
            </a:r>
          </a:p>
        </p:txBody>
      </p:sp>
    </p:spTree>
    <p:extLst>
      <p:ext uri="{BB962C8B-B14F-4D97-AF65-F5344CB8AC3E}">
        <p14:creationId xmlns:p14="http://schemas.microsoft.com/office/powerpoint/2010/main" val="287516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F903B7-26B6-2CDD-AC14-CB34F88D2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Bibliografia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C0F9CD-E20A-D3B2-3405-75CB285F0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/>
              <a:t>[1] G</a:t>
            </a:r>
            <a:r>
              <a:rPr lang="es-MX" dirty="0"/>
              <a:t>. Booch, J. Rumbaugh, and I. Jacobson, </a:t>
            </a:r>
            <a:r>
              <a:rPr lang="es-MX" i="1" dirty="0"/>
              <a:t>The </a:t>
            </a:r>
            <a:r>
              <a:rPr lang="es-MX" i="1" dirty="0" err="1"/>
              <a:t>Unified</a:t>
            </a:r>
            <a:r>
              <a:rPr lang="es-MX" i="1" dirty="0"/>
              <a:t> </a:t>
            </a:r>
            <a:r>
              <a:rPr lang="es-MX" i="1" dirty="0" err="1"/>
              <a:t>Modeling</a:t>
            </a:r>
            <a:r>
              <a:rPr lang="es-MX" i="1" dirty="0"/>
              <a:t> </a:t>
            </a:r>
            <a:r>
              <a:rPr lang="es-MX" i="1" dirty="0" err="1"/>
              <a:t>Language</a:t>
            </a:r>
            <a:r>
              <a:rPr lang="es-MX" i="1" dirty="0"/>
              <a:t> </a:t>
            </a:r>
            <a:r>
              <a:rPr lang="es-MX" i="1" dirty="0" err="1"/>
              <a:t>User</a:t>
            </a:r>
            <a:r>
              <a:rPr lang="es-MX" i="1" dirty="0"/>
              <a:t> Guide</a:t>
            </a:r>
            <a:r>
              <a:rPr lang="es-MX" dirty="0"/>
              <a:t>. Reading, MA, USA: Addison-Wesley, 1998.</a:t>
            </a:r>
          </a:p>
        </p:txBody>
      </p:sp>
    </p:spTree>
    <p:extLst>
      <p:ext uri="{BB962C8B-B14F-4D97-AF65-F5344CB8AC3E}">
        <p14:creationId xmlns:p14="http://schemas.microsoft.com/office/powerpoint/2010/main" val="6577764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</TotalTime>
  <Words>543</Words>
  <Application>Microsoft Office PowerPoint</Application>
  <PresentationFormat>Panorámica</PresentationFormat>
  <Paragraphs>49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Modelo Conceptual de UML </vt:lpstr>
      <vt:lpstr>Que es UML?</vt:lpstr>
      <vt:lpstr>Como se construye un UML</vt:lpstr>
      <vt:lpstr>Presentación de PowerPoint</vt:lpstr>
      <vt:lpstr>Presentación de PowerPoint</vt:lpstr>
      <vt:lpstr>Relaciones</vt:lpstr>
      <vt:lpstr>Diagramas de UML</vt:lpstr>
      <vt:lpstr>Reglas de UML</vt:lpstr>
      <vt:lpstr>Mecanismos comunes</vt:lpstr>
      <vt:lpstr>Bibliografia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Diaz P</dc:creator>
  <cp:lastModifiedBy>Diaz P</cp:lastModifiedBy>
  <cp:revision>10</cp:revision>
  <dcterms:created xsi:type="dcterms:W3CDTF">2026-08-26T20:20:27Z</dcterms:created>
  <dcterms:modified xsi:type="dcterms:W3CDTF">2026-09-04T13:40:58Z</dcterms:modified>
</cp:coreProperties>
</file>